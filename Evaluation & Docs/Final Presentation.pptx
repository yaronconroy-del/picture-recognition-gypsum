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Gypsum Belt-Filter Cake Recognition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Automated valid / invalid detection from a plant camera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AI Expert — Final Project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Yaron Conroy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6BB"/>
                </a:solidFill>
                <a:latin typeface="Calibri"/>
              </a:rPr>
              <a:t>2026-09-23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C8AA3"/>
                </a:solidFill>
                <a:latin typeface="Calibri"/>
              </a:rPr>
              <a:t>Code: github.com/yaronconroy-del/picture-recognition-gypsum  (private — access arranged on request)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B. PROJECT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A fixed camera watches a gypsum belt filter on a phosphoric-acid production line.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Filtration quality is currently checked by manual visual inspection — intermittent, and inconsistent between operators/shifts.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Goal: an image classifier that looks at a single camera frame and tells whether the cake is VALID (properly dewatered) or INVALID (wet gypsum), automatically and continuously.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900">
                <a:solidFill>
                  <a:srgbClr val="222833"/>
                </a:solidFill>
                <a:latin typeface="Calibri"/>
              </a:rPr>
              <a:t>▪  This is a proxy for a real yield-loss and equipment-damage problem, not a cosmetic visual check (see next slides).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Process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6309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Wet-process phosphoric acid production: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Phosphate rock + sulfuric acid → phosphoric acid + gypsum (by-product)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Gypsum still carries residual phosphoric acid.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It's washed with water, then dewatered on the belt filter this project's camera watches — to recover as much phosphoric acid as possible before the gypsum is discarded.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“Invalid” = wet gypsum: the cake didn't dewater properly.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645920"/>
            <a:ext cx="4114800" cy="3931920"/>
          </a:xfrm>
          <a:prstGeom prst="roundRect">
            <a:avLst/>
          </a:prstGeom>
          <a:solidFill>
            <a:srgbClr val="F2F4F7"/>
          </a:solidFill>
          <a:ln>
            <a:solidFill>
              <a:srgbClr val="DD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sz="1600" b="1">
                <a:solidFill>
                  <a:srgbClr val="141E30"/>
                </a:solidFill>
              </a:defRPr>
            </a:pPr>
            <a:r>
              <a:t>Rock + H₂SO₄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Phosphoric acid  +  Gypsum (wet)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wash with water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↓  belt filter (dewater)</a:t>
            </a:r>
          </a:p>
          <a:p>
            <a:pPr>
              <a:spcBef>
                <a:spcPts val="1000"/>
              </a:spcBef>
              <a:defRPr sz="1400">
                <a:solidFill>
                  <a:srgbClr val="222833"/>
                </a:solidFill>
              </a:defRPr>
            </a:pPr>
            <a:r>
              <a:t>Dry cake → recovered acid   |   Wet cake → lost acid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Background: the Cost of Bad Filtration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Wet gypsum causes two separate costs: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Yield loss — unrecovered phosphoric acid, lost with the discarded gypsum: ~$2,000/hour per 1% P₂O₅ remaining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>
                <a:solidFill>
                  <a:srgbClr val="5A6370"/>
                </a:solidFill>
                <a:latin typeface="Calibri"/>
              </a:rPr>
              <a:t>    – Equipment damage — wet gypsum can damage downstream equipment, adding downtime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365760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675120"/>
              </a:tblGrid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$2,000/hr per 1% P₂O₅  →  ~$6,000/hr at a typical ~3% equivalent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Yield-loss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~480 hr/yr affected (6% of ~8,000 hr/yr)  →  ~$2,880,000/year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rate (equipment damage)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$49,500/hr (45 × 1,100)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Downtime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~240 hr/yr affected (3% of ~8,000 hr/yr)  →  ~$11,880,000/year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Combined annual exposure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~$14,760,000/year</a:t>
                      </a:r>
                    </a:p>
                  </a:txBody>
                  <a:tcPr anchor="ctr"/>
                </a:tc>
              </a:tr>
              <a:tr h="441960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141E30"/>
                          </a:solidFill>
                          <a:latin typeface="Calibri"/>
                        </a:defRPr>
                      </a:pPr>
                      <a:r>
                        <a:t>Automated-detection recovery (10–15%)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~$1,476,000 – $2,214,000/year</a:t>
                      </a:r>
                    </a:p>
                  </a:txBody>
                  <a:tcPr anchor="ctr">
                    <a:solidFill>
                      <a:srgbClr val="E6F0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99632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370"/>
                </a:solidFill>
                <a:latin typeface="Calibri"/>
              </a:rPr>
              <a:t>Assumptions stated explicitly — swap in real annual operating hours for exact figures.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C. BACKGROUND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Related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Transfer learning from ImageNet-pretrained CNNs is standard for small industrial inspection datasets — used in 83% of studies in a 2024 review of CNN-based surface-defect detection.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 follows that pattern: MobileNetV2, transfer-learned, not trained from scratch.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 imbalance between “normal” and “defect” is treated as the norm in this literature — defects are genuinely rarer than normal output.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“empty” class (8 of 176 images, 4.5%) sits in the same range; class-weighted loss is the standard mitigation, which this project uses.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Published benchmarks reach 95%+ accuracy — but on datasets one to three orders of magnitude larger than this project's 176 images.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This project's ~77% CV accuracy should be read against that gap, not against best-case published numbers.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3303"/>
            <a:ext cx="6035040" cy="34485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7373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176 photos total, from the plant's own camera (via WhatsApp export).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5 native classes: valid/invalid × day/night, plus empty filter.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Randomized filenames + a manifest for traceability, not sequential/revealing names.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Real capture-session timestamps recovered from the manifest — used for leakage-safe splitting (next slide).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IT/data-access constraints limited the photos available for this phase — a full-scale pilot would use a much larger database (§16.2).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§3, §3.5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Dataset — What the Camera Actually Sees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mple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1417320"/>
            <a:ext cx="402336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Model &amp; Training/eda/sample_grid.png — random samples, seed=42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Preprocessing &amp; Modeling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Timestamp overlay masked out (top strip) so the model can't key off the burned-in clock.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Leakage-safe splits by real capture session (not per-image) — photos seconds apart don't leak across train/test.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Three split ratios tested (80/20, 75/25, 70/30) plus K-fold cross-validation, auto-capped per scheme to what the scarcest class's session count actually supports.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Model: MobileNetV2 (ImageNet-pretrained), last block fine-tuned, rest frozen — transfer learning, not training from scratch (§1.1).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Class-weighted CrossEntropyLoss for imbalance; a WeightedRandomSampler variant was also tried.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One fixed config (backbone, lr=1e-3, 10 epochs) held constant across every comparison, so only one variable changes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§4, §5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1: Which Label Scheme?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370"/>
                </a:solidFill>
                <a:latin typeface="Calibri"/>
              </a:rPr>
              <a:t>Cross-validation accuracy (the trustworthy number — averaged over independent sessions):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920240"/>
          <a:ext cx="10881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2926080"/>
                <a:gridCol w="292608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Scheme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CV Accuracy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Invalid Recall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Lite (3-class: valid/invalid/empty)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63.3% ± 9.5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42.4% ± 1.9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(5-class: + day/night)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72.3% ± 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63.9% ± 7.5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No-empty collapsed (2-class)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70.8% ± 14.3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57.7% ± 26.7  (unstable)</a:t>
                      </a:r>
                    </a:p>
                  </a:txBody>
                  <a:tcPr anchor="ctr"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No-empty split (4-class)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77.4% ± 1.9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B87A10"/>
                          </a:solidFill>
                          <a:latin typeface="Calibri"/>
                        </a:defRPr>
                      </a:pPr>
                      <a:r>
                        <a:t>71.1% ± 5.4</a:t>
                      </a:r>
                    </a:p>
                  </a:txBody>
                  <a:tcPr anchor="ctr">
                    <a:solidFill>
                      <a:srgbClr val="FBF0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(5-class) beat Lite on every ratio and in CV — day/night carries real signal.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(4-class) beat every scheme tried — folding “empty” into “invalid” measurably helps, not just simplifies.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collapsed's high single-split numbers are not trustworthy — its CV variance is enormous (±14.3 points).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§6, §8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Decision: No-Empty Split (4-class)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Compared fairly (same ground-truth definition, same run): no-empty split wins on every metric vs. extended — accuracy, invalid recall, ROC AUC (0.852 vs. 0.808), PR AP (0.805 vs. 0.769).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Beyond the numbers — the operational argument is stronger: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The empty-filter dataset is tiny (8 of 176 images).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live model doesn't need to detect “empty” at all — the operator empties the filter themselves and already knows it.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Production design: toggle the model off during that operator-controlled window, back on once filtration resumes.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029200"/>
            <a:ext cx="10881360" cy="1005840"/>
          </a:xfrm>
          <a:prstGeom prst="roundRect">
            <a:avLst/>
          </a:prstGeom>
          <a:solidFill>
            <a:srgbClr val="E9F6EF"/>
          </a:solidFill>
          <a:ln>
            <a:solidFill>
              <a:srgbClr val="1F8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600" b="1">
                <a:solidFill>
                  <a:srgbClr val="1F8A5B"/>
                </a:solidFill>
              </a:defRPr>
            </a:pPr>
            <a:r>
              <a:t>Classes: valid_day · valid_night · invalid_day · invalid_night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2: Tuning the Decision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5905"/>
            <a:ext cx="5394960" cy="47205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Every training run so far decided valid-vs-invalid with a bare argmax() — an untuned, implicit 0.5 cutoff.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Re-analyzed all 23 configs with full probabilities: ROC/AUC, precision-recall/AP, calibration, and two threshold candidates (Youden's J; F1-optimal).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Finding: the default 0.5 cutoff was under-flagging real faults — nearly every config's optimal threshold is below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No-empty split CV: F1-optimal threshold = 0.466, close to 0.5.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Extended CV: F1-optimal threshold = 0.302 — well below 0.5.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E. EXPERIMENTS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Experiment 3: Pushing Further (a Negative Result)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bo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5120640" cy="43891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0" y="1828800"/>
          <a:ext cx="55778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280160"/>
                <a:gridCol w="128016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Variant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ROC AUC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 AP</a:t>
                      </a:r>
                    </a:p>
                  </a:txBody>
                  <a:tcPr anchor="ctr">
                    <a:solidFill>
                      <a:srgbClr val="14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Extended alone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0.769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No-empty split alone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0.852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8A5B"/>
                          </a:solidFill>
                          <a:latin typeface="Calibri"/>
                        </a:defRPr>
                      </a:pPr>
                      <a:r>
                        <a:t>0.805</a:t>
                      </a:r>
                    </a:p>
                  </a:txBody>
                  <a:tcPr anchor="ctr">
                    <a:solidFill>
                      <a:srgbClr val="E6F6E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Ensemble (avg. of both)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0.803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Test-time augmentation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+ Calibration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0.847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833"/>
                          </a:solidFill>
                          <a:latin typeface="Calibri"/>
                        </a:defRPr>
                      </a:pPr>
                      <a:r>
                        <a:t>0.787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457200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Tried: ensembling extended + no-empty split, test-time augmentation, Platt-scaling calibration.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None beat the single best model — reported straight, not spun.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>
                <a:solidFill>
                  <a:srgbClr val="222833"/>
                </a:solidFill>
                <a:latin typeface="Calibri"/>
              </a:rPr>
              <a:t>▪  A plain average pulled the stronger model down toward the weaker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D. METHODOLOGY / E.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Live Demo Scripts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predict.py — classifies one photo from the command line: predicted class, confidence, and a VALID/INVALID call.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Auto-selects the best available trained model; “empty” predictions count as INVALID, matching the §12 decision.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Spot-checked on 3 sample photos: 2/3 correct at high confidence; the one miss landed on the model's documented weak spot (the empty class).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watch_camera_feed.py — simulates the live feed: watches a folder, classifies each new photo within seconds, prints an ALERT line for INVALID.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5A6370"/>
                </a:solidFill>
                <a:latin typeface="Calibri"/>
              </a:rPr>
              <a:t>    – A stand-in for a real camera connection — tested locally with a valid and an invalid sample photo, both classified and flagged correctly.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Both reuse the exact same preprocessing as training — no drift between what was evaluated and what runs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§13, §14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Conclusions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No-empty split (4-class) is the strongest model found — ~77% CV accuracy, ROC AUC 0.852, clearly ahead once compared fairly.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Folding “empty” into “invalid” is both statistically and operationally correct, not just a simplification.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The default 0.5 threshold was under-flagging real faults — tuned thresholds catch more real invalid cases.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Ensembling/TTA/calibration did not beat the single best model — an honest negative result.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800">
                <a:solidFill>
                  <a:srgbClr val="222833"/>
                </a:solidFill>
                <a:latin typeface="Calibri"/>
              </a:rPr>
              <a:t>▪  Business case: automated detection is estimated to recover ~$1.48M–2.21M/year (10–15% of ~$14.76M/year combined yield-loss + downtime exposure).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789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Small dataset by IT constraint, not choice — 176 images (8 “empty”); every number carries real uncertainty.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seed, mostly CPU-trained runs.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promoted model hasn't had a real full training run yet — full_pipeline.ipynb still needs to run in Colab for real.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Day/night remains unexplained — ruled out literal time-of-day and whole-image brightness, but the real cause is still unknown.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The live-feed demo is a simulation (folder-watcher), not a real camera/RTSP integration or real alerting channel.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700">
                <a:solidFill>
                  <a:srgbClr val="222833"/>
                </a:solidFill>
                <a:latin typeface="Calibri"/>
              </a:rPr>
              <a:t>▪  Single fixed camera, uncontrolled lighting; source images are WhatsApp-recompressed, not native resolution.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6CDF"/>
                </a:solidFill>
                <a:latin typeface="Calibri"/>
              </a:rPr>
              <a:t>F. CONCLUSIONS, LIMITATIONS &amp;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41E30"/>
                </a:solidFill>
                <a:latin typeface="Calibri"/>
              </a:rPr>
              <a:t>Further Directions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280160" cy="38100"/>
          </a:xfrm>
          <a:prstGeom prst="rect">
            <a:avLst/>
          </a:prstGeom>
          <a:solidFill>
            <a:srgbClr val="2D6C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Near-term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Run full_pipeline.ipynb for real to get trustworthy final numbers and the actual promoted weights.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Confidence-weighted ensembling instead of a plain average; build the real camera feed + alerting channel.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D6CDF"/>
                </a:solidFill>
                <a:latin typeface="Calibri"/>
              </a:rPr>
              <a:t>Full-scale pilot (plant engineer's roadmap)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424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Retrain on a much larger database once IT/data-access constraints are lifted.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Add projectors around the filter to normalize day/night lighting and reduce shadow effects — engineers the day/night ambiguity away at the source.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Move beyond binary valid/invalid to a continuous filtration-quality score, so the process trend is visible.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Make it a time-based model that tracks change over a sequence of frames and flags the process turning bad — early warning, not single-frame classification.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>
                <a:solidFill>
                  <a:srgbClr val="222833"/>
                </a:solidFill>
                <a:latin typeface="Calibri"/>
              </a:rPr>
              <a:t>▪  Far future: a downstream model that calculates the right reactor process parameters from the predicted filtration state — closing the loop from vision to process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370"/>
                </a:solidFill>
                <a:latin typeface="Calibri"/>
              </a:rPr>
              <a:t>Evaluation &amp; Docs/Project Workflow.md §16.3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E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FC4EA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AA6BB"/>
                </a:solidFill>
                <a:latin typeface="Calibri"/>
              </a:rPr>
              <a:t>Code: github.com/yaronconroy-del/picture-recognition-gypsum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37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