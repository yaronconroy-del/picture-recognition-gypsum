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Gypsum Belt-Filter Cake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FC4EA"/>
                </a:solidFill>
                <a:latin typeface="Calibri"/>
              </a:rPr>
              <a:t>Automated valid / invalid detection from a plant camera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AI Expert — Final Project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Yaron Conroy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AA3"/>
                </a:solidFill>
                <a:latin typeface="Calibri"/>
              </a:rPr>
              <a:t>Code: github.com/yaronconroy-del/picture-recognition-gypsum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B.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A fixed camera watches a gypsum belt filter on a phosphoric-acid production line.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Filtration quality is currently checked by manual visual inspection — intermittent, and inconsistent between operators/shifts.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Goal: an image classifier that looks at a single camera frame and tells whether the cake is VALID (properly dewatered) or INVALID (wet gypsum), automatically and continuously.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This is a proxy for a real yield-loss and equipment-damage problem, not a cosmetic visual check (see next slides).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Background: the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Wet-process phosphoric acid production: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Phosphate rock + sulfuric acid → phosphoric acid + gypsum (by-product)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Gypsum still carries residual phosphoric acid.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It's washed with water, then dewatered on the belt filter this project's camera watches — to recover as much phosphoric acid as possible before the gypsum is discarded.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“Invalid” = wet gypsum: the cake didn't dewater properly.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931920"/>
          </a:xfrm>
          <a:prstGeom prst="roundRect">
            <a:avLst/>
          </a:prstGeom>
          <a:solidFill>
            <a:srgbClr val="F2F4F7"/>
          </a:solidFill>
          <a:ln>
            <a:solidFill>
              <a:srgbClr val="DD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141E30"/>
                </a:solidFill>
              </a:defRPr>
            </a:pPr>
            <a:r>
              <a:t>Rock + H₂SO₄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Phosphoric acid  +  Gypsum (wet)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  wash with water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  belt filter (dewater)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Dry cake → recovered acid   |   Wet cake → lost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Background: the Cost of Bad Filtration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Wet gypsum causes two separate costs: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Yield loss — unrecovered phosphoric acid, lost with the discarded gypsum: ~$2,000/hour per 1% P₂O₅ remaining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Equipment damage — wet gypsum can damage downstream equipment, adding downtime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65760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Yield-loss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$2,000/hr per 1% P₂O₅  →  ~$6,000/hr at a typical ~3% equivalent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Yield-loss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~480 hr/yr affected (6% of ~8,000 hr/yr)  →  ~$2,880,000/year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Downtime rate (equipment damage)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$49,500/hr (45 × 1,100)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Downtime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~240 hr/yr affected (3% of ~8,000 hr/yr)  →  ~$11,880,000/year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Combined annual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~$14,760,000/year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Automated-detection recovery (10–15%)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~$1,476,000 – $2,214,000/year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370"/>
                </a:solidFill>
                <a:latin typeface="Calibri"/>
              </a:rPr>
              <a:t>Assumptions stated explicitly — swap in real annual operating hours for exact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Transfer learning from ImageNet-pretrained CNNs is standard for small industrial inspection datasets — used in 83% of studies in a 2024 review of CNN-based surface-defect detection.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 follows that pattern: MobileNetV2, transfer-learned, not trained from scratch.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Class imbalance between “normal” and “defect” is treated as the norm in this literature — defects are genuinely rarer than normal output.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project's “empty” class (8 of 176 images, 4.5%) sits in the same range; class-weighted loss is the standard mitigation, which this project uses.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Published benchmarks reach 95%+ accuracy — but on datasets one to three orders of magnitude larger than this project's 176 images.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project's ~80% CV accuracy should be read against that gap, not against best-case published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set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3303"/>
            <a:ext cx="6035040" cy="3448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176 photos total, from the plant's own camera (via WhatsApp export).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5 native classes: valid/invalid × day/night, plus empty filter.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Counts shown after the label correction — one photo moved from valid_night to valid_day after a manual review (see the data-quality slide).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Randomized filenames + a manifest for traceability; real capture-session timestamps recovered from it for leakage-safe splitting.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IT/data-access constraints limited the photos available for this phase — a full-scale pilot would use a much larger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§3, §3.5, §17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Dataset — What the Camera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mp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417320"/>
            <a:ext cx="40233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Training/eda/sample_grid.png — random samples, seed=42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Preprocessing &amp; Modeling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Timestamp overlay masked out (top strip) so the model can't key off the burned-in clock.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Leakage-safe splits by real capture session (not per-image) — photos seconds apart don't leak across train/test.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Three split ratios tested (80/20, 75/25, 70/30) plus K-fold cross-validation, auto-capped per scheme to what the scarcest class's session count actually supports.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Model: MobileNetV2 (52 conv layers, ImageNet-pretrained) — transfer learning, not training from scratch (§1.1).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Only the last block + new classifier are unfrozen; the rest stays at pretrained weights — 176 images can't support fully fine-tuning 3.4M parameters without overfitting. A larger database would support unfreezing more (§16.3).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Class-weighted CrossEntropyLoss for imbalance; a WeightedRandomSampler variant was also tried.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One fixed config (backbone, lr=1e-3, 10 epochs) held constant across every comparison, so only one variable changes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§4, §5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1: Which Label Scheme?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370"/>
                </a:solidFill>
                <a:latin typeface="Calibri"/>
              </a:rPr>
              <a:t>Cross-validation accuracy (the trustworthy number — averaged over independent sessions):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Scheme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Accuracy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Invalid Recall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Lite (3-class: valid/invalid/empty)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63.3% ± 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43.3% ± 12.4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Extended (5-class: + day/night)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67.6% ± 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49.9% ± 14.4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No-empty collapsed (2-class)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70.0% ± 14.7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56.1% ± 25.5  (unstable)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No-empty split (4-class)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80.3% ± 0.4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80.7% ± 1.6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split (4-class) beat every scheme tried — and with the tightest spread (±0.4 points): folding “empty” into “invalid” measurably helps, not just simplifies.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Extended (5-class) beat Lite in CV — keeping day/night as classes carries real signal.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collapsed's high single-split numbers are not trustworthy — its CV variance is enormous (±14.7 points).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§18 — final run, day/night-corrected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Decision: No-Empty Split (4-class)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Compared fairly (same ground-truth definition, same run): no-empty split wins on every metric vs. extended — CV accuracy (80.3% vs. 67.6%), ROC AUC (0.882 vs. 0.782), PR AP (0.826 vs. 0.704).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Beyond the numbers — the operational argument is stronger: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The empty-filter dataset is tiny (8 of 176 images).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A live model doesn't need to detect “empty” at all — the operator empties the filter themselves and already knows 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Production design: toggle the model off during that operator-controlled window, back on once filtration resumes.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05840"/>
          </a:xfrm>
          <a:prstGeom prst="roundRect">
            <a:avLst/>
          </a:prstGeom>
          <a:solidFill>
            <a:srgbClr val="E9F6EF"/>
          </a:solidFill>
          <a:ln>
            <a:solidFill>
              <a:srgbClr val="1F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F8A5B"/>
                </a:solidFill>
              </a:defRPr>
            </a:pPr>
            <a:r>
              <a:t>Classes: valid_day · valid_night · invalid_day · invalid_night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2: Tuning the Decision Threshold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reshol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5905"/>
            <a:ext cx="5394960" cy="4720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A bare argmax() decides valid-vs-invalid with an untuned, implicit 0.5 cutoff.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Every config re-analyzed with full probabilities: ROC/AUC, precision-recall/AP, calibration, and two threshold candidates (Youden's J; F1-optimal).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Finding: the default 0.5 cutoff under-flags real faults — 17 of 17 configs have BOTH optimal thresholds below 0.5.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split CV (promoted): F1-optimal 0.37, Youden 0.49 → operate at ~0.37–0.49.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Extended CV: F1-optimal 0.30 — well below 0.5.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§9, §18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3: Pushing Further (a Negative Result)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st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4805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82880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 AUC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 AP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Extended 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0.704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No-empty split alone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0.826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Ensemble (avg. of both)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0.774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+ Test-time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+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45720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Tried: ensembling extended + no-empty split, test-time augmentation, Platt-scaling calibration.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None beat the single best model — reported straight, not spun.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A plain average pulled the stronger model down toward the weaker one; TTA recovered only part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§10, §18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Finding: A Mislabeled Photo Was Costing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All 168 day/night photos were reviewed by hand at full resolution against the one reliable visual cue: night's sharp floodlight glare vs. day's flatter, diffuse haze.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One photo was filed wrong: a “valid, night” image with no floodlight glare anywhere — moved to “valid, day”. Every result in this deck is retrained on the corrected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01752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Promoted model (no-empty split, CV)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fix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fix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77.4% ± 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80.3% ± 0.4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Invalid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71.1% ± 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80.7% ± 1.6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ROC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PR 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0.826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Control: lite CV accuracy (unaffected by day/night)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63.3%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63.3%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Control: collapsed CV accuracy (unaffected)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70.8%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A6370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▪  The schemes the fix doesn't touch reproduce almost exactly, so the gain comes from the fix, not run-to-run noise. Extended (also day/night-based) dropped to 67.6% — reported as-is; the decision stands.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§17, §18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 / E.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Live Demo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predict.py — classifies one photo from the command line: predicted class, confidence, and a VALID/INVALID call.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Runs the promoted model from the final run (no-empty split, 70/30) automatically; “empty” predictions count as INVALID, matching the §12 decision.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Spot-checked: an “invalid, day” photo → INVALID (61% confidence). Earlier 3-photo check on the runner-up model: 2/3 correct, the miss on the weak “empty” class.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watch_camera_feed.py — simulates the live feed: watches a folder, classifies each new photo within seconds, prints an ALERT line for INVALID.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A stand-in for a real camera connection — tested locally with a valid and an invalid sample photo, both classified and flagged correctly.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Both reuse the exact same preprocessing as training — no drift between what was evaluated and what runs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§13, §14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No-empty split (4-class) is the strongest model found — 80.3% ± 0.4 CV accuracy, 80.7% invalid recall, ROC AUC 0.882.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Folding “empty” into “invalid” is both statistically and operationally correct, not just a simplification.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Data quality mattered: fixing one mislabeled photo lifted the promoted model's CV accuracy from 77.4% to 80.3% and invalid recall from 71.1% to 80.7%.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The default 0.5 threshold under-flags real faults — tuned thresholds catch more real invalid cases.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Ensembling/TTA/calibration did not beat the single best model — an honest negative result.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Business case: automated detection is estimated to recover ~$1.48M–2.21M/year (10–15% of ~$14.76M/year combined yield-loss + downtime exposure).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§16.1, §18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Small dataset by IT constraint, not choice — 176 images (8 “empty”); every number carries real uncertainty.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The final run is a single seed on CPU — variance across seeds not yet measured beyond the CV fold spread.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Day/night still isn't explained — not literal time-of-day, not whole-image brightness — though the manual review found the labels themselves reliable (1 error in 168).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The live-feed demo is a simulation (folder-watcher), not a real camera/RTSP integration or real alerting channel.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Single fixed camera, uncontrolled lighting; source images are WhatsApp-recompressed, not native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Further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CDF"/>
                </a:solidFill>
                <a:latin typeface="Calibri"/>
              </a:rPr>
              <a:t>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Repeat the final run across several seeds to measure run-to-run variance.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Confidence-weighted ensembling instead of a plain average; build the real camera feed + alerting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CDF"/>
                </a:solidFill>
                <a:latin typeface="Calibri"/>
              </a:rPr>
              <a:t>Full-scale pilot (plant engineer's roadmap)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Retrain on a much larger database once IT/data-access constraints are lifted, and unfreeze more of the backbone (today's last-block-only fine-tuning is a dataset-size-driven choice, not a ceiling).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Add projectors around the filter to normalize day/night lighting and reduce shadow effects — engineers the day/night ambiguity away at the source.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Move beyond binary valid/invalid to a continuous filtration-quality score, so the process trend is visible.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Make it a time-based model that tracks change over a sequence of frames and flags the process turning bad — early warning, not single-frame classification.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Far future: a downstream model that calculates the right reactor process parameters from the predicted filtration state — closing the loop from vision to process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Appendix: Every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FC4EA"/>
                </a:solidFill>
                <a:latin typeface="Calibri"/>
              </a:rPr>
              <a:t>Training curves (loss and accuracy, train vs. val) and the confusion matrix for all 17 configurations of the final run.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FC4EA"/>
                </a:solidFill>
                <a:latin typeface="Calibri"/>
              </a:rPr>
              <a:t>CV configurations show the mean curve across folds and the confusion matrix summed over folds.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Lite (3-class), 80/20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60.0%  ·  invalid recall 60.0%  ·  macro F1 0.450  ·  ROC AUC 1.000  ·  F1-optimal threshold 0.27  (10 test images)</a:t>
            </a:r>
          </a:p>
        </p:txBody>
      </p:sp>
      <p:pic>
        <p:nvPicPr>
          <p:cNvPr id="6" name="Picture 5" descr="result_lite_80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Training/models/full_pipeline/result_lite_80_20.png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2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Lite (3-class), 75/25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85.1%  ·  invalid recall 40.0%  ·  macro F1 0.453  ·  ROC AUC 0.905  ·  F1-optimal threshold 0.22  (47 test images)</a:t>
            </a:r>
          </a:p>
        </p:txBody>
      </p:sp>
      <p:pic>
        <p:nvPicPr>
          <p:cNvPr id="6" name="Picture 5" descr="result_lite_75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Training/models/full_pipeline/result_lite_75_25.png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3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Lite (3-class), 70/30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60.0%  ·  invalid recall 42.4%  ·  macro F1 0.391  ·  ROC AUC 0.773  ·  F1-optimal threshold 0.15  (75 test images)</a:t>
            </a:r>
          </a:p>
        </p:txBody>
      </p:sp>
      <p:pic>
        <p:nvPicPr>
          <p:cNvPr id="6" name="Picture 5" descr="result_lite_7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Training/models/full_pipeline/result_lite_70_30.png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4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Lite (3-class), 3-fold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63.3% ± 2.7  ·  invalid recall 43.3% ± 12.4  ·  macro F1 0.540  ·  ROC AUC 0.763  ·  F1-optimal threshold 0.11  (176 pooled test images)</a:t>
            </a:r>
          </a:p>
        </p:txBody>
      </p:sp>
      <p:pic>
        <p:nvPicPr>
          <p:cNvPr id="6" name="Picture 5" descr="result_lite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Training/models/full_pipeline/result_lite_cv.png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5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Lite (3-class), 80/20 split + weighted sampler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70.0%  ·  invalid recall 80.0%  ·  macro F1 0.519  ·  ROC AUC 1.000  ·  F1-optimal threshold 0.40  (10 test images)</a:t>
            </a:r>
          </a:p>
        </p:txBody>
      </p:sp>
      <p:pic>
        <p:nvPicPr>
          <p:cNvPr id="6" name="Picture 5" descr="result_lite_80_20_samp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Training/models/full_pipeline/result_lite_80_20_sampler.png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6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Extended (5-class), 80/20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63.2%  ·  invalid recall 64.3%  ·  macro F1 0.415  ·  ROC AUC 0.871  ·  F1-optimal threshold 0.14  (19 test images)</a:t>
            </a:r>
          </a:p>
        </p:txBody>
      </p:sp>
      <p:pic>
        <p:nvPicPr>
          <p:cNvPr id="6" name="Picture 5" descr="result_extended_80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Training/models/full_pipeline/result_extended_80_20.png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7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Extended (5-class), 75/25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71.7%  ·  invalid recall 71.4%  ·  macro F1 0.465  ·  ROC AUC 0.859  ·  F1-optimal threshold 0.48  (53 test images)</a:t>
            </a:r>
          </a:p>
        </p:txBody>
      </p:sp>
      <p:pic>
        <p:nvPicPr>
          <p:cNvPr id="6" name="Picture 5" descr="result_extended_75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Training/models/full_pipeline/result_extended_75_25.png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8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Extended (5-class), 70/30 split — runner-up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69.8%  ·  invalid recall 57.1%  ·  macro F1 0.439  ·  ROC AUC 0.864  ·  F1-optimal threshold 0.22  (53 test images)</a:t>
            </a:r>
          </a:p>
        </p:txBody>
      </p:sp>
      <p:pic>
        <p:nvPicPr>
          <p:cNvPr id="6" name="Picture 5" descr="result_extended_7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Training/models/full_pipeline/result_extended_70_30.png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9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Extended (5-class), 2-fold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67.6% ± 4.9  ·  invalid recall 49.9% ± 14.4  ·  macro F1 0.642  ·  ROC AUC 0.797  ·  F1-optimal threshold 0.30  (176 pooled test images)</a:t>
            </a:r>
          </a:p>
        </p:txBody>
      </p:sp>
      <p:pic>
        <p:nvPicPr>
          <p:cNvPr id="6" name="Picture 5" descr="result_extended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Training/models/full_pipeline/result_extended_cv.png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10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collapsed (2-class), 80/20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81.8%  ·  invalid recall 75.0%  ·  macro F1 0.804  ·  ROC AUC 1.000  ·  F1-optimal threshold 0.17  (11 test images)</a:t>
            </a:r>
          </a:p>
        </p:txBody>
      </p:sp>
      <p:pic>
        <p:nvPicPr>
          <p:cNvPr id="6" name="Picture 5" descr="result_collapsed_80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Training/models/full_pipeline/result_collapsed_80_20.png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11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collapsed (2-class), 75/25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83.3%  ·  invalid recall 75.0%  ·  macro F1 0.747  ·  ROC AUC 0.912  ·  F1-optimal threshold 0.44  (48 test images)</a:t>
            </a:r>
          </a:p>
        </p:txBody>
      </p:sp>
      <p:pic>
        <p:nvPicPr>
          <p:cNvPr id="6" name="Picture 5" descr="result_collapsed_75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Training/models/full_pipeline/result_collapsed_75_25.png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12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collapsed (2-class), 70/30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54.7%  ·  invalid recall 28.6%  ·  macro F1 0.508  ·  ROC AUC 0.681  ·  F1-optimal threshold 0.12  (75 test images)</a:t>
            </a:r>
          </a:p>
        </p:txBody>
      </p:sp>
      <p:pic>
        <p:nvPicPr>
          <p:cNvPr id="6" name="Picture 5" descr="result_collapsed_7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Training/models/full_pipeline/result_collapsed_70_30.png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13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collapsed (2-class), 3-fold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70.0% ± 14.7  ·  invalid recall 56.1% ± 25.5  ·  macro F1 0.677  ·  ROC AUC 0.723  ·  F1-optimal threshold 0.17  (176 pooled test images)</a:t>
            </a:r>
          </a:p>
        </p:txBody>
      </p:sp>
      <p:pic>
        <p:nvPicPr>
          <p:cNvPr id="6" name="Picture 5" descr="result_collapsed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Training/models/full_pipeline/result_collapsed_cv.png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14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split (4-class), 80/20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75.0%  ·  invalid recall 69.2%  ·  macro F1 0.709  ·  ROC AUC 0.974  ·  F1-optimal threshold 0.23  (16 test images)</a:t>
            </a:r>
          </a:p>
        </p:txBody>
      </p:sp>
      <p:pic>
        <p:nvPicPr>
          <p:cNvPr id="6" name="Picture 5" descr="result_split_80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Training/models/full_pipeline/result_split_80_20.png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15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split (4-class), 75/25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75.9%  ·  invalid recall 76.5%  ·  macro F1 0.739  ·  ROC AUC 0.895  ·  F1-optimal threshold 0.35  (54 test images)</a:t>
            </a:r>
          </a:p>
        </p:txBody>
      </p:sp>
      <p:pic>
        <p:nvPicPr>
          <p:cNvPr id="6" name="Picture 5" descr="result_split_75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Training/models/full_pipeline/result_split_75_25.png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16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split (4-class), 70/30 split — promoted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74.1%  ·  invalid recall 76.5%  ·  macro F1 0.722  ·  ROC AUC 0.855  ·  F1-optimal threshold 0.36  (54 test images)</a:t>
            </a:r>
          </a:p>
        </p:txBody>
      </p:sp>
      <p:pic>
        <p:nvPicPr>
          <p:cNvPr id="6" name="Picture 5" descr="result_split_7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Training/models/full_pipeline/result_split_70_30.png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APPENDIX — MODEL 17 OF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No-empty split (4-class), 2-fold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370"/>
                </a:solidFill>
                <a:latin typeface="Calibri"/>
              </a:rPr>
              <a:t>accuracy 80.3% ± 0.4  ·  invalid recall 80.7% ± 1.6  ·  macro F1 0.791  ·  ROC AUC 0.882  ·  F1-optimal threshold 0.37  (176 pooled test images)</a:t>
            </a:r>
          </a:p>
        </p:txBody>
      </p:sp>
      <p:pic>
        <p:nvPicPr>
          <p:cNvPr id="6" name="Picture 5" descr="result_split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7506"/>
            <a:ext cx="11247120" cy="3114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Training/models/full_pipeline/result_split_cv.png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FC4EA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6BB"/>
                </a:solidFill>
                <a:latin typeface="Calibri"/>
              </a:rPr>
              <a:t>Code: github.com/yaronconroy-del/picture-recognition-gypsum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